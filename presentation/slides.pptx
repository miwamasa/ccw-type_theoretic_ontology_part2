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型理論ベース</a:t>
            </a:r>
          </a:p>
          <a:p>
            <a:r>
              <a:t>オントロジー探索・合成システム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Type-Theoretic Ontology Synthesis System</a:t>
            </a:r>
          </a:p>
          <a:p/>
          <a:p>
            <a:r>
              <a:t>型理論と圏論に基づくオントロジー変換の自動探索・合成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目次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1. 理論的基礎</a:t>
            </a:r>
          </a:p>
          <a:p>
            <a:pPr lvl="1"/>
            <a:r>
              <a:t>• Span/Cospan理論</a:t>
            </a:r>
          </a:p>
          <a:p>
            <a:pPr lvl="1"/>
            <a:r>
              <a:t>• 型理論・型充足問題</a:t>
            </a:r>
          </a:p>
          <a:p>
            <a:pPr lvl="1"/>
            <a:r>
              <a:t>• 中間型の自動発見</a:t>
            </a:r>
          </a:p>
          <a:p>
            <a:r>
              <a:t>2. YAMLベースの簡単な実装</a:t>
            </a:r>
          </a:p>
          <a:p>
            <a:r>
              <a:t>3. 本格的なDSL設計</a:t>
            </a:r>
          </a:p>
          <a:p>
            <a:r>
              <a:t>4. CFP計算の実例</a:t>
            </a:r>
          </a:p>
          <a:p>
            <a:r>
              <a:t>5. まとめと今後の展望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1. 理論的基礎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型理論と圏論によるオントロジー変換の形式化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1.1 Span/Cospan理論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なぜオントロジーにSpanが向いているのか？</a:t>
            </a:r>
          </a:p>
          <a:p>
            <a:pPr lvl="1"/>
            <a:r>
              <a:t>オントロジー間のアライメントは本質的に「対応表」を持つ</a:t>
            </a:r>
          </a:p>
          <a:p>
            <a:pPr lvl="1"/>
            <a:r>
              <a:t>→ これがSpanそのもの</a:t>
            </a:r>
          </a:p>
          <a:p/>
          <a:p>
            <a:pPr lvl="1">
              <a:defRPr>
                <a:latin typeface="Courier New"/>
              </a:defRPr>
            </a:pPr>
            <a:r>
              <a:t>A ← X → B</a:t>
            </a:r>
          </a:p>
          <a:p>
            <a:pPr lvl="1">
              <a:defRPr sz="1400"/>
            </a:pPr>
            <a:r>
              <a:t>A: オントロジーA, B: オントロジーB</a:t>
            </a:r>
          </a:p>
          <a:p>
            <a:pPr lvl="1">
              <a:defRPr sz="1400"/>
            </a:pPr>
            <a:r>
              <a:t>X: 対応（マッピングテーブル）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Spanの合成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2つのアライメントを連鎖させる</a:t>
            </a:r>
          </a:p>
          <a:p/>
          <a:p>
            <a:pPr lvl="1">
              <a:defRPr>
                <a:latin typeface="Courier New"/>
              </a:defRPr>
            </a:pPr>
            <a:r>
              <a:t>A ← X → B  (AとBのアライメント)</a:t>
            </a:r>
          </a:p>
          <a:p>
            <a:pPr lvl="1">
              <a:defRPr>
                <a:latin typeface="Courier New"/>
              </a:defRPr>
            </a:pPr>
            <a:r>
              <a:t>B ← Y → C  (BとCのアライメント)</a:t>
            </a:r>
          </a:p>
          <a:p>
            <a:pPr lvl="1"/>
            <a:r>
              <a:t>↓ pullback で合成</a:t>
            </a:r>
          </a:p>
          <a:p>
            <a:pPr lvl="1">
              <a:defRPr>
                <a:latin typeface="Courier New"/>
              </a:defRPr>
            </a:pPr>
            <a:r>
              <a:t>A ← X×ᴮY → C  (AとCのアライメント)</a:t>
            </a:r>
          </a:p>
          <a:p/>
          <a:p>
            <a:pPr>
              <a:defRPr b="1"/>
            </a:pPr>
            <a:r>
              <a:t>Pullbackの意義:</a:t>
            </a:r>
          </a:p>
          <a:p>
            <a:pPr lvl="1"/>
            <a:r>
              <a:t>• B型が一致する要素のみが自動的に接合</a:t>
            </a:r>
          </a:p>
          <a:p>
            <a:pPr lvl="1"/>
            <a:r>
              <a:t>• 互換性のないマッピングは合成されない（安全）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1.2 型理論による定式化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b="1"/>
            </a:pPr>
            <a:r>
              <a:t>型 = オントロジーのクラス</a:t>
            </a:r>
          </a:p>
          <a:p>
            <a:pPr lvl="1">
              <a:defRPr>
                <a:latin typeface="Courier New"/>
              </a:defRPr>
            </a:pPr>
            <a:r>
              <a:t>type Product</a:t>
            </a:r>
          </a:p>
          <a:p>
            <a:pPr lvl="1">
              <a:defRPr>
                <a:latin typeface="Courier New"/>
              </a:defRPr>
            </a:pPr>
            <a:r>
              <a:t>type Energy [unit=J]</a:t>
            </a:r>
          </a:p>
          <a:p>
            <a:pPr lvl="1">
              <a:defRPr>
                <a:latin typeface="Courier New"/>
              </a:defRPr>
            </a:pPr>
            <a:r>
              <a:t>type Fuel [unit=kg]</a:t>
            </a:r>
          </a:p>
          <a:p/>
          <a:p>
            <a:pPr>
              <a:defRPr b="1"/>
            </a:pPr>
            <a:r>
              <a:t>関数 = 型間の変換</a:t>
            </a:r>
          </a:p>
          <a:p>
            <a:pPr lvl="1">
              <a:defRPr>
                <a:latin typeface="Courier New"/>
              </a:defRPr>
            </a:pPr>
            <a:r>
              <a:t>usesEnergy : Product → Energy</a:t>
            </a:r>
          </a:p>
          <a:p>
            <a:pPr lvl="1">
              <a:defRPr>
                <a:latin typeface="Courier New"/>
              </a:defRPr>
            </a:pPr>
            <a:r>
              <a:t>fuelToCO2 : Fuel → CO2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型充足（Type Inhabitation）問題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b="1"/>
            </a:pPr>
            <a:r>
              <a:t>問題: 目的型 Product → CO2 を満たす証明項（関数合成）は存在するか？</a:t>
            </a:r>
          </a:p>
          <a:p/>
          <a:p>
            <a:r>
              <a:t>型付けルールによる導出:</a:t>
            </a:r>
          </a:p>
          <a:p>
            <a:pPr lvl="1">
              <a:defRPr sz="1200">
                <a:latin typeface="Courier New"/>
              </a:defRPr>
            </a:pPr>
            <a:r>
              <a:t>Γ ⊢ usesEnergy : Product → Energy</a:t>
            </a:r>
          </a:p>
          <a:p>
            <a:pPr lvl="1">
              <a:defRPr sz="1200">
                <a:latin typeface="Courier New"/>
              </a:defRPr>
            </a:pPr>
            <a:r>
              <a:t>Γ ⊢ energyToFuelEstimate : Energy → Fuel</a:t>
            </a:r>
          </a:p>
          <a:p>
            <a:pPr lvl="1">
              <a:defRPr sz="1200">
                <a:latin typeface="Courier New"/>
              </a:defRPr>
            </a:pPr>
            <a:r>
              <a:t>Γ ⊢ fuelToCO2 : Fuel → CO2</a:t>
            </a:r>
          </a:p>
          <a:p>
            <a:pPr lvl="1">
              <a:defRPr>
                <a:latin typeface="Courier New"/>
              </a:defRPr>
            </a:pPr>
            <a:r>
              <a:t>────────────────────────────────</a:t>
            </a:r>
          </a:p>
          <a:p>
            <a:pPr lvl="1">
              <a:defRPr sz="1100">
                <a:latin typeface="Courier New"/>
              </a:defRPr>
            </a:pPr>
            <a:r>
              <a:t>Γ ⊢ (fuelToCO2 ∘ energyToFuelEstimate ∘ usesEnergy)</a:t>
            </a:r>
          </a:p>
          <a:p>
            <a:pPr lvl="1">
              <a:defRPr sz="1200">
                <a:latin typeface="Courier New"/>
              </a:defRPr>
            </a:pPr>
            <a:r>
              <a:t>   : Product → CO2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1.3 中間型の自動発見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探索の過程で「隠れたブリッジ概念」が出現</a:t>
            </a:r>
          </a:p>
          <a:p/>
          <a:p>
            <a:pPr>
              <a:defRPr sz="1400"/>
            </a:pPr>
            <a:r>
              <a:t>初期状態: Product と CO2 の直接的な関係は不明</a:t>
            </a:r>
          </a:p>
          <a:p/>
          <a:p>
            <a:pPr>
              <a:defRPr b="1"/>
            </a:pPr>
            <a:r>
              <a:t>探索プロセス:</a:t>
            </a:r>
          </a:p>
          <a:p>
            <a:pPr lvl="1"/>
            <a:r>
              <a:t>1. CO2 を生成する関数は？</a:t>
            </a:r>
          </a:p>
          <a:p>
            <a:pPr lvl="2">
              <a:defRPr b="1"/>
            </a:pPr>
            <a:r>
              <a:t>→ fuelToCO2 発見 → Fuel が中間型として出現</a:t>
            </a:r>
          </a:p>
          <a:p>
            <a:pPr lvl="1"/>
            <a:r>
              <a:t>2. Fuel を生成する関数は？</a:t>
            </a:r>
          </a:p>
          <a:p>
            <a:pPr lvl="2">
              <a:defRPr b="1"/>
            </a:pPr>
            <a:r>
              <a:t>→ energyToFuelEstimate 発見 → Energy が出現</a:t>
            </a:r>
          </a:p>
          <a:p>
            <a:pPr lvl="1"/>
            <a:r>
              <a:t>3. Product から Energy への変換は？</a:t>
            </a:r>
          </a:p>
          <a:p>
            <a:pPr lvl="2">
              <a:defRPr b="1"/>
            </a:pPr>
            <a:r>
              <a:t>→ usesEnergy 発見 → 完全なパスが構築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2. YAMLベースの実装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プロトタイプ実装による概念実証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カタログ定義（catalog.yaml）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400">
                <a:latin typeface="Courier New"/>
              </a:defRPr>
            </a:pPr>
            <a:r>
              <a:t>types:</a:t>
            </a:r>
          </a:p>
          <a:p>
            <a:pPr>
              <a:defRPr sz="1400">
                <a:latin typeface="Courier New"/>
              </a:defRPr>
            </a:pPr>
            <a:r>
              <a:t>  - name: Product</a:t>
            </a:r>
          </a:p>
          <a:p>
            <a:pPr>
              <a:defRPr sz="1400">
                <a:latin typeface="Courier New"/>
              </a:defRPr>
            </a:pPr>
            <a:r>
              <a:t>  - name: Energy</a:t>
            </a:r>
          </a:p>
          <a:p>
            <a:pPr>
              <a:defRPr sz="1400">
                <a:latin typeface="Courier New"/>
              </a:defRPr>
            </a:pPr>
            <a:r>
              <a:t>    unit: J</a:t>
            </a:r>
          </a:p>
          <a:p/>
          <a:p>
            <a:pPr>
              <a:defRPr sz="1400">
                <a:latin typeface="Courier New"/>
              </a:defRPr>
            </a:pPr>
            <a:r>
              <a:t>functions:</a:t>
            </a:r>
          </a:p>
          <a:p>
            <a:pPr>
              <a:defRPr sz="1400">
                <a:latin typeface="Courier New"/>
              </a:defRPr>
            </a:pPr>
            <a:r>
              <a:t>  - id: usesEnergy</a:t>
            </a:r>
          </a:p>
          <a:p>
            <a:pPr>
              <a:defRPr sz="1400">
                <a:latin typeface="Courier New"/>
              </a:defRPr>
            </a:pPr>
            <a:r>
              <a:t>    sig: "Product -&gt; Energy"</a:t>
            </a:r>
          </a:p>
          <a:p>
            <a:pPr>
              <a:defRPr sz="1400">
                <a:latin typeface="Courier New"/>
              </a:defRPr>
            </a:pPr>
            <a:r>
              <a:t>    cost: 1</a:t>
            </a:r>
          </a:p>
          <a:p>
            <a:pPr>
              <a:defRPr sz="1400">
                <a:latin typeface="Courier New"/>
              </a:defRPr>
            </a:pPr>
            <a:r>
              <a:t>    confidence: 0.9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探索アルゴリズム: 逆方向探索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b="1"/>
            </a:pPr>
            <a:r>
              <a:t>アルゴリズム概要:</a:t>
            </a:r>
          </a:p>
          <a:p>
            <a:pPr lvl="1"/>
            <a:r>
              <a:t>1. ゴール型からスタート</a:t>
            </a:r>
          </a:p>
          <a:p>
            <a:pPr lvl="1"/>
            <a:r>
              <a:t>2. ゴールを返す関数を探索</a:t>
            </a:r>
          </a:p>
          <a:p>
            <a:pPr lvl="1"/>
            <a:r>
              <a:t>3. 各関数のdomainを新しいサブゴールに</a:t>
            </a:r>
          </a:p>
          <a:p>
            <a:pPr lvl="1"/>
            <a:r>
              <a:t>4. ソース型に到達したらパス記録</a:t>
            </a:r>
          </a:p>
          <a:p>
            <a:pPr lvl="1"/>
            <a:r>
              <a:t>5. コスト最小のパスを返す</a:t>
            </a:r>
          </a:p>
          <a:p/>
          <a:p>
            <a:pPr>
              <a:defRPr b="1"/>
            </a:pPr>
            <a:r>
              <a:t>特徴:</a:t>
            </a:r>
          </a:p>
          <a:p>
            <a:pPr lvl="1"/>
            <a:r>
              <a:t>• Dijkstra的な最短経路探索</a:t>
            </a:r>
          </a:p>
          <a:p>
            <a:pPr lvl="1"/>
            <a:r>
              <a:t>• 優先度付きキュー使用</a:t>
            </a:r>
          </a:p>
          <a:p>
            <a:pPr lvl="1"/>
            <a:r>
              <a:t>• コスト制限による枝刈り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検証結果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b="1" sz="2400">
                <a:solidFill>
                  <a:srgbClr val="008000"/>
                </a:solidFill>
              </a:defRPr>
            </a:pPr>
            <a:r>
              <a:t>すべてのテストが成功</a:t>
            </a:r>
          </a:p>
          <a:p/>
          <a:p>
            <a:pPr lvl="1"/>
            <a:r>
              <a:t>✓ 基本動作: Product → CO2 のパス探索成功</a:t>
            </a:r>
          </a:p>
          <a:p>
            <a:pPr lvl="1"/>
            <a:r>
              <a:t>✓ 包括的テスト: 6つのテストケースすべて成功</a:t>
            </a:r>
          </a:p>
          <a:p>
            <a:pPr lvl="1"/>
            <a:r>
              <a:t>✓ DSL統合テスト: 5つのテストケースすべて成功</a:t>
            </a:r>
          </a:p>
          <a:p>
            <a:pPr lvl="1"/>
            <a:r>
              <a:t>✓ 実行機能テスト: 5つのテストケースすべて成功</a:t>
            </a:r>
          </a:p>
          <a:p>
            <a:pPr lvl="1"/>
            <a:r>
              <a:t>✓ GHG集約テスト: 8つのシナリオすべて成功</a:t>
            </a:r>
          </a:p>
          <a:p>
            <a:pPr lvl="1"/>
            <a:r>
              <a:t>✓ 型理論・圏論との整合性確認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3. 本格的なDSL設計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読みやすく拡張可能な専用言語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DSL構文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400">
                <a:latin typeface="Courier New"/>
              </a:defRPr>
            </a:pPr>
            <a:r>
              <a:t># 型定義</a:t>
            </a:r>
          </a:p>
          <a:p>
            <a:pPr>
              <a:defRPr sz="1400">
                <a:latin typeface="Courier New"/>
              </a:defRPr>
            </a:pPr>
            <a:r>
              <a:t>type Product</a:t>
            </a:r>
          </a:p>
          <a:p>
            <a:pPr>
              <a:defRPr sz="1400">
                <a:latin typeface="Courier New"/>
              </a:defRPr>
            </a:pPr>
            <a:r>
              <a:t>type Energy [unit=J, range=&gt;=0]</a:t>
            </a:r>
          </a:p>
          <a:p/>
          <a:p>
            <a:pPr>
              <a:defRPr sz="1400">
                <a:latin typeface="Courier New"/>
              </a:defRPr>
            </a:pPr>
            <a:r>
              <a:t># 関数定義</a:t>
            </a:r>
          </a:p>
          <a:p>
            <a:pPr>
              <a:defRPr sz="1400">
                <a:latin typeface="Courier New"/>
              </a:defRPr>
            </a:pPr>
            <a:r>
              <a:t>fn usesEnergy {</a:t>
            </a:r>
          </a:p>
          <a:p>
            <a:pPr>
              <a:defRPr sz="1400">
                <a:latin typeface="Courier New"/>
              </a:defRPr>
            </a:pPr>
            <a:r>
              <a:t>  sig: Product -&gt; Energy</a:t>
            </a:r>
          </a:p>
          <a:p>
            <a:pPr>
              <a:defRPr sz="1400">
                <a:latin typeface="Courier New"/>
              </a:defRPr>
            </a:pPr>
            <a:r>
              <a:t>  impl: sparql("SELECT ...")</a:t>
            </a:r>
          </a:p>
          <a:p>
            <a:pPr>
              <a:defRPr sz="1400">
                <a:latin typeface="Courier New"/>
              </a:defRPr>
            </a:pPr>
            <a:r>
              <a:t>  cost: 1</a:t>
            </a:r>
          </a:p>
          <a:p>
            <a:pPr>
              <a:defRPr sz="1400">
                <a:latin typeface="Courier New"/>
              </a:defRPr>
            </a:pPr>
            <a:r>
              <a:t>  confidence: 0.9</a:t>
            </a:r>
          </a:p>
          <a:p>
            <a:pPr>
              <a:defRPr sz="1400">
                <a:latin typeface="Courier New"/>
              </a:defRPr>
            </a:pPr>
            <a:r>
              <a:t>}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実行機能（新実装）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b="1"/>
            </a:pPr>
            <a:r>
              <a:t>3つの主要機能を追加:</a:t>
            </a:r>
          </a:p>
          <a:p/>
          <a:p>
            <a:pPr lvl="1"/>
            <a:r>
              <a:t>1. 実行レイヤー: SPARQL/REST/Formula の実際の実行</a:t>
            </a:r>
          </a:p>
          <a:p>
            <a:pPr lvl="2"/>
            <a:r>
              <a:t>• FormulaExecutor: 数式の安全な評価</a:t>
            </a:r>
          </a:p>
          <a:p>
            <a:pPr lvl="2"/>
            <a:r>
              <a:t>• SPARQLExecutor: SPARQLクエリ実行</a:t>
            </a:r>
          </a:p>
          <a:p>
            <a:pPr lvl="2"/>
            <a:r>
              <a:t>• RESTExecutor: REST API呼び出し</a:t>
            </a:r>
          </a:p>
          <a:p/>
          <a:p>
            <a:pPr lvl="1"/>
            <a:r>
              <a:t>2. 単位変換: 自動的な単位変換関数の挿入</a:t>
            </a:r>
          </a:p>
          <a:p>
            <a:pPr lvl="2"/>
            <a:r>
              <a:t>• J ↔ kWh, kg ↔ g, K ↔ C ↔ F など</a:t>
            </a:r>
          </a:p>
          <a:p/>
          <a:p>
            <a:pPr lvl="1"/>
            <a:r>
              <a:t>3. Provenance: PROV-O形式での来歴記録</a:t>
            </a:r>
          </a:p>
          <a:p>
            <a:pPr lvl="2"/>
            <a:r>
              <a:t>• Turtle および JSON 形式で出力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4. CFP計算の実例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Carbon Footprint 計算による実証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問題設定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b="1"/>
            </a:pPr>
            <a:r>
              <a:t>目標: 製品（Product）のCO2排出量を計算</a:t>
            </a:r>
          </a:p>
          <a:p/>
          <a:p>
            <a:pPr>
              <a:defRPr b="1"/>
            </a:pPr>
            <a:r>
              <a:t>制約: 直接的な Product → CO2 関数は存在しない</a:t>
            </a:r>
          </a:p>
          <a:p/>
          <a:p>
            <a:r>
              <a:t>利用可能な関数（断片的）:</a:t>
            </a:r>
          </a:p>
          <a:p>
            <a:pPr lvl="1"/>
            <a:r>
              <a:t>• usesEnergy: Product → Energy</a:t>
            </a:r>
          </a:p>
          <a:p>
            <a:pPr lvl="1"/>
            <a:r>
              <a:t>• fuelToEnergy: Fuel → Energy</a:t>
            </a:r>
          </a:p>
          <a:p>
            <a:pPr lvl="1"/>
            <a:r>
              <a:t>• fuelToCO2: Fuel → CO2</a:t>
            </a:r>
          </a:p>
          <a:p>
            <a:pPr lvl="1"/>
            <a:r>
              <a:t>• energyToFuelEstimate: Energy → Fuel (逆関数)</a:t>
            </a:r>
          </a:p>
          <a:p/>
          <a:p>
            <a:pPr>
              <a:defRPr i="1"/>
            </a:pPr>
            <a:r>
              <a:t>→ これらをどう組み合わせるか？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発見されたパス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600">
                <a:latin typeface="Courier New"/>
              </a:defRPr>
            </a:pPr>
            <a:r>
              <a:t>Product</a:t>
            </a:r>
          </a:p>
          <a:p>
            <a:pPr>
              <a:defRPr sz="1600">
                <a:latin typeface="Courier New"/>
              </a:defRPr>
            </a:pPr>
            <a:r>
              <a:t>   |</a:t>
            </a:r>
          </a:p>
          <a:p>
            <a:pPr>
              <a:defRPr sz="1400">
                <a:latin typeface="Courier New"/>
              </a:defRPr>
            </a:pPr>
            <a:r>
              <a:t>   | [1] usesEnergy (conf: 0.9)</a:t>
            </a:r>
          </a:p>
          <a:p>
            <a:pPr>
              <a:defRPr sz="1600">
                <a:latin typeface="Courier New"/>
              </a:defRPr>
            </a:pPr>
            <a:r>
              <a:t>   ↓</a:t>
            </a:r>
          </a:p>
          <a:p>
            <a:pPr>
              <a:defRPr sz="1600">
                <a:latin typeface="Courier New"/>
              </a:defRPr>
            </a:pPr>
            <a:r>
              <a:t>Energy</a:t>
            </a:r>
          </a:p>
          <a:p>
            <a:pPr>
              <a:defRPr sz="1600">
                <a:latin typeface="Courier New"/>
              </a:defRPr>
            </a:pPr>
            <a:r>
              <a:t>   |</a:t>
            </a:r>
          </a:p>
          <a:p>
            <a:pPr>
              <a:defRPr sz="1400">
                <a:latin typeface="Courier New"/>
              </a:defRPr>
            </a:pPr>
            <a:r>
              <a:t>   | [3] energyToFuelEstimate (conf: 0.8) ⚠️</a:t>
            </a:r>
          </a:p>
          <a:p>
            <a:pPr>
              <a:defRPr sz="1600">
                <a:latin typeface="Courier New"/>
              </a:defRPr>
            </a:pPr>
            <a:r>
              <a:t>   ↓</a:t>
            </a:r>
          </a:p>
          <a:p>
            <a:pPr>
              <a:defRPr sz="1600">
                <a:latin typeface="Courier New"/>
              </a:defRPr>
            </a:pPr>
            <a:r>
              <a:t>Fuel</a:t>
            </a:r>
          </a:p>
          <a:p>
            <a:pPr>
              <a:defRPr sz="1600">
                <a:latin typeface="Courier New"/>
              </a:defRPr>
            </a:pPr>
            <a:r>
              <a:t>   |</a:t>
            </a:r>
          </a:p>
          <a:p>
            <a:pPr>
              <a:defRPr sz="1400">
                <a:latin typeface="Courier New"/>
              </a:defRPr>
            </a:pPr>
            <a:r>
              <a:t>   | [1] fuelToCO2 (conf: 0.98)</a:t>
            </a:r>
          </a:p>
          <a:p>
            <a:pPr>
              <a:defRPr sz="1600">
                <a:latin typeface="Courier New"/>
              </a:defRPr>
            </a:pPr>
            <a:r>
              <a:t>   ↓</a:t>
            </a:r>
          </a:p>
          <a:p>
            <a:pPr>
              <a:defRPr sz="1600" b="1">
                <a:latin typeface="Courier New"/>
              </a:defRPr>
            </a:pPr>
            <a:r>
              <a:t>CO2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メトリクス分析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b="1" sz="2000"/>
            </a:pPr>
            <a:r>
              <a:t>総コスト: 5.0</a:t>
            </a:r>
          </a:p>
          <a:p>
            <a:pPr lvl="1"/>
            <a:r>
              <a:t>• usesEnergy: 1.0 (20%)</a:t>
            </a:r>
          </a:p>
          <a:p>
            <a:pPr lvl="1">
              <a:defRPr>
                <a:solidFill>
                  <a:srgbClr val="FF6400"/>
                </a:solidFill>
              </a:defRPr>
            </a:pPr>
            <a:r>
              <a:t>• energyToFuelEstimate: 3.0 (60%) ← 支配的</a:t>
            </a:r>
          </a:p>
          <a:p>
            <a:pPr lvl="1"/>
            <a:r>
              <a:t>• fuelToCO2: 1.0 (20%)</a:t>
            </a:r>
          </a:p>
          <a:p/>
          <a:p>
            <a:pPr>
              <a:defRPr b="1" sz="2000"/>
            </a:pPr>
            <a:r>
              <a:t>総信頼度: 0.7056 ≈ 70.56%</a:t>
            </a:r>
          </a:p>
          <a:p>
            <a:pPr lvl="1"/>
            <a:r>
              <a:t>= 0.9 × 0.8 × 0.98</a:t>
            </a:r>
          </a:p>
          <a:p/>
          <a:p>
            <a:pPr>
              <a:defRPr i="1">
                <a:solidFill>
                  <a:srgbClr val="008000"/>
                </a:solidFill>
              </a:defRPr>
            </a:pPr>
            <a:r>
              <a:t>→ 実用的に許容範囲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GHG Scope 1, 2, 3 シナリオ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b="1"/>
            </a:pPr>
            <a:r>
              <a:t>集約関数の影響分析</a:t>
            </a:r>
          </a:p>
          <a:p/>
          <a:p>
            <a:pPr lvl="1"/>
            <a:r>
              <a:t>Scope 1: 直接排出（燃料燃焼、プロセス排出）</a:t>
            </a:r>
          </a:p>
          <a:p>
            <a:pPr lvl="1"/>
            <a:r>
              <a:t>Scope 2: エネルギー間接排出（購入電力、購入熱）</a:t>
            </a:r>
          </a:p>
          <a:p>
            <a:pPr lvl="1"/>
            <a:r>
              <a:t>Scope 3: その他間接排出（輸送、通勤、出張）</a:t>
            </a:r>
          </a:p>
          <a:p/>
          <a:p>
            <a:pPr>
              <a:defRPr b="1">
                <a:solidFill>
                  <a:srgbClr val="008000"/>
                </a:solidFill>
              </a:defRPr>
            </a:pPr>
            <a:r>
              <a:t>テスト結果: 8つのシナリオすべて成功</a:t>
            </a:r>
          </a:p>
          <a:p/>
          <a:p>
            <a:pPr>
              <a:defRPr sz="1400"/>
            </a:pPr>
            <a:r>
              <a:t>発見: 集約関数は通常の関数と同様に型合成に統合され、</a:t>
            </a:r>
          </a:p>
          <a:p>
            <a:pPr>
              <a:defRPr sz="1400"/>
            </a:pPr>
            <a:r>
              <a:t>パス探索に影響を与えない（成功率100%）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5. まとめと今後の展望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主要な成果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b="1" sz="2000"/>
            </a:pPr>
            <a:r>
              <a:t>理論と実装の統合</a:t>
            </a:r>
          </a:p>
          <a:p>
            <a:pPr lvl="1"/>
            <a:r>
              <a:t>✓ Span/Cospan理論の実装可能性を実証</a:t>
            </a:r>
          </a:p>
          <a:p>
            <a:pPr lvl="1"/>
            <a:r>
              <a:t>✓ 型充足問題としての定式化が有効</a:t>
            </a:r>
          </a:p>
          <a:p>
            <a:pPr lvl="1"/>
            <a:r>
              <a:t>✓ 中間型の自動発見メカニズムを確認</a:t>
            </a:r>
          </a:p>
          <a:p/>
          <a:p>
            <a:pPr>
              <a:defRPr b="1" sz="2000"/>
            </a:pPr>
            <a:r>
              <a:t>実用的なシステム</a:t>
            </a:r>
          </a:p>
          <a:p>
            <a:pPr lvl="1"/>
            <a:r>
              <a:t>✓ 自動パス探索（コスト最適化）</a:t>
            </a:r>
          </a:p>
          <a:p>
            <a:pPr lvl="1"/>
            <a:r>
              <a:t>✓ 専用DSL（読みやすく拡張可能）</a:t>
            </a:r>
          </a:p>
          <a:p>
            <a:pPr lvl="1"/>
            <a:r>
              <a:t>✓ 実行レイヤー（SPARQL/REST/Formula）</a:t>
            </a:r>
          </a:p>
          <a:p>
            <a:pPr lvl="1"/>
            <a:r>
              <a:t>✓ 単位変換・Provenance生成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実装済み機能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b="1"/>
            </a:pPr>
            <a:r>
              <a:t>コア機能:</a:t>
            </a:r>
          </a:p>
          <a:p>
            <a:pPr lvl="1"/>
            <a:r>
              <a:t>• 型合成エンジン</a:t>
            </a:r>
          </a:p>
          <a:p>
            <a:pPr lvl="1"/>
            <a:r>
              <a:t>• 逆方向探索アルゴリズム</a:t>
            </a:r>
          </a:p>
          <a:p>
            <a:pPr lvl="1"/>
            <a:r>
              <a:t>• コスト・信頼度最適化</a:t>
            </a:r>
          </a:p>
          <a:p/>
          <a:p>
            <a:pPr>
              <a:defRPr b="1"/>
            </a:pPr>
            <a:r>
              <a:t>拡張機能:</a:t>
            </a:r>
          </a:p>
          <a:p>
            <a:pPr lvl="1"/>
            <a:r>
              <a:t>• 実行レイヤー</a:t>
            </a:r>
          </a:p>
          <a:p>
            <a:pPr lvl="1"/>
            <a:r>
              <a:t>• 単位変換システム</a:t>
            </a:r>
          </a:p>
          <a:p>
            <a:pPr lvl="1"/>
            <a:r>
              <a:t>• Provenance生成</a:t>
            </a:r>
          </a:p>
          <a:p>
            <a:pPr lvl="1"/>
            <a:r>
              <a:t>• モックモード（テスト用）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今後の拡張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b="1"/>
            </a:pPr>
            <a:r>
              <a:t>中期: アルゴリズム改善</a:t>
            </a:r>
          </a:p>
          <a:p>
            <a:pPr lvl="1"/>
            <a:r>
              <a:t>• A*探索: ヒューリスティクス関数の導入</a:t>
            </a:r>
          </a:p>
          <a:p>
            <a:pPr lvl="1"/>
            <a:r>
              <a:t>• 双方向探索: 起点と終点からの同時探索</a:t>
            </a:r>
          </a:p>
          <a:p>
            <a:pPr lvl="1"/>
            <a:r>
              <a:t>• キャッシング: 型到達可能性のキャッシュ</a:t>
            </a:r>
          </a:p>
          <a:p/>
          <a:p>
            <a:pPr>
              <a:defRPr b="1"/>
            </a:pPr>
            <a:r>
              <a:t>長期: 理論的拡張</a:t>
            </a:r>
          </a:p>
          <a:p>
            <a:pPr lvl="1"/>
            <a:r>
              <a:t>• 依存型: 値に依存する型</a:t>
            </a:r>
          </a:p>
          <a:p>
            <a:pPr lvl="1"/>
            <a:r>
              <a:t>• 多引数関数: カリー化を超えた表現力</a:t>
            </a:r>
          </a:p>
          <a:p>
            <a:pPr lvl="1"/>
            <a:r>
              <a:t>• Cospan/Colimit: オントロジー統合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まとめ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b="1" sz="2000"/>
            </a:pPr>
            <a:r>
              <a:t>型理論と圏論を実装レベルで統合</a:t>
            </a:r>
          </a:p>
          <a:p>
            <a:pPr>
              <a:defRPr i="1"/>
            </a:pPr>
            <a:r>
              <a:t>抽象的な理論を具体的な問題解決に応用</a:t>
            </a:r>
          </a:p>
          <a:p/>
          <a:p>
            <a:pPr lvl="1"/>
            <a:r>
              <a:t>✓ 理論的健全性と実用性を両立</a:t>
            </a:r>
          </a:p>
          <a:p>
            <a:pPr lvl="1"/>
            <a:r>
              <a:t>✓ 自動探索による生産性向上</a:t>
            </a:r>
          </a:p>
          <a:p>
            <a:pPr lvl="1"/>
            <a:r>
              <a:t>✓ 完全なトレーサビリティ</a:t>
            </a:r>
          </a:p>
          <a:p>
            <a:pPr lvl="1"/>
            <a:r>
              <a:t>✓ 拡張可能なアーキテクチャ</a:t>
            </a:r>
          </a:p>
          <a:p/>
          <a:p>
            <a:pPr>
              <a:defRPr sz="1400"/>
            </a:pPr>
            <a:r>
              <a:t>GitHub: github.com/miwamasa/</a:t>
            </a:r>
          </a:p>
          <a:p>
            <a:pPr>
              <a:defRPr sz="1400"/>
            </a:pPr>
            <a:r>
              <a:t>        ccw-type_theoretic_ontology_part2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ありがとうございました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Type-Theoretic Ontology Synthesis System</a:t>
            </a:r>
          </a:p>
          <a:p>
            <a:r>
              <a:t>型理論ベース オントロジー探索・合成システム</a:t>
            </a:r>
          </a:p>
          <a:p/>
          <a:p>
            <a:r>
              <a:t>質問・フィードバックをお待ちしています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