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4F6F6"/>
                </a:solidFill>
              </a:defRPr>
            </a:pPr>
            <a:r>
              <a:t>型理論ベース</a:t>
            </a:r>
          </a:p>
          <a:p>
            <a:r>
              <a:t>オントロジー探索・合成システム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Type-Theoretic Ontology Exploration and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4F6F6"/>
                </a:solidFill>
              </a:defRPr>
            </a:pPr>
            <a:r>
              <a:t>カテゴリ理論 × 型理論 × オントロジー工学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プロジェクト概要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異なるオントロジー間の変換を、型理論とカテゴリ理論を用いて自動的に発見・合成する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主要コンポーネント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Span/Cospan理論に基づくオントロジーアライメント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型充足問題による関数合成の自動発見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DSLによる宣言的なカタログ定義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実行エンジン（SPARQL/REST/Formula対応）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PROV-O準拠のProvenance生成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4F6F6"/>
                </a:solidFill>
              </a:defRPr>
            </a:pPr>
            <a:r>
              <a:t>第1部：理論的基礎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Span/Cospan理論と型理論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Span/Cospan理論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Span構造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2つのオントロジーを中間オントロジーで接続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A ← M →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A, B: ソース・ターゲットオントロジー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M: 中間オントロジー（マッピング仲介者）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射: オントロジー準同型（構造を保つ写像）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Cospan構造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2つのオントロジーから共通の統合オントロジーへ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A → U ←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Pullback操作により、最も精密な整合性を保つマッピングを構築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型理論の基礎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型システム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 (Type): データの分類・制約を表現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項 (Term): 型に属する具体的な値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判断 (Judgment): t : T （項tが型Tに属する）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関数型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関数は型から型への写像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f : A →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関数fは型Aの値を受け取り、型Bの値を返す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関数合成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f : A → B と g : B → C があるとき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g ∘ f : A →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型充足問題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問題定義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与えられた型Tに対して、その型を持つ項を見つける問題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Find t such that t :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本システムへの適用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Goal: ソース型 S からターゲット型 T への変換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Catalog: 利用可能な関数の集合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Task: S → T という型を満たす関数合成を発見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探索アルゴリズム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Dijkstra法ベースの後方探索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ゴール型Tから開始し、Sに到達するパスを探索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コスト最小・信頼度最大のパスを優先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中間型の自動発見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従来の課題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オントロジーマッピングでは、中間オントロジーを手動で設計する必要があった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本システムのアプローチ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型充足問題として定式化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カタログから関数を選択し、自動的に合成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複数の中間型を経由するパスも発見可能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Goal: PurchaseAmount -&gt; kg-CO2</a:t>
            </a:r>
          </a:p>
          <a:p/>
          <a:p>
            <a:r>
              <a:t>Path found:</a:t>
            </a:r>
          </a:p>
          <a:p>
            <a:r>
              <a:t>PurchaseAmount -&gt; MonetaryValue -&gt; EnergyConsumption -&gt; kg-CO2</a:t>
            </a:r>
          </a:p>
          <a:p/>
          <a:p>
            <a:r>
              <a:t>Functions:</a:t>
            </a:r>
          </a:p>
          <a:p>
            <a:r>
              <a:t>  purchaseToMonetary : PurchaseAmount -&gt; MonetaryValue</a:t>
            </a:r>
          </a:p>
          <a:p>
            <a:r>
              <a:t>  monetaryToEnergy   : MonetaryValue -&gt; EnergyConsumption</a:t>
            </a:r>
          </a:p>
          <a:p>
            <a:r>
              <a:t>  energyToEmissions  : EnergyConsumption -&gt; kg-CO2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4F6F6"/>
                </a:solidFill>
              </a:defRPr>
            </a:pPr>
            <a:r>
              <a:t>第2部：YAMLベースの実装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簡易DSLによる探索システム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YAMLカタログ定義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types:</a:t>
            </a:r>
          </a:p>
          <a:p>
            <a:r>
              <a:t>  - name: MonetaryValue</a:t>
            </a:r>
          </a:p>
          <a:p>
            <a:r>
              <a:t>    unit: JPY</a:t>
            </a:r>
          </a:p>
          <a:p>
            <a:r>
              <a:t>  - name: EnergyConsumption</a:t>
            </a:r>
          </a:p>
          <a:p>
            <a:r>
              <a:t>    unit: kWh</a:t>
            </a:r>
          </a:p>
          <a:p/>
          <a:p>
            <a:r>
              <a:t>functions:</a:t>
            </a:r>
          </a:p>
          <a:p>
            <a:r>
              <a:t>  - name: purchaseToEnergy</a:t>
            </a:r>
          </a:p>
          <a:p>
            <a:r>
              <a:t>    source: MonetaryValue</a:t>
            </a:r>
          </a:p>
          <a:p>
            <a:r>
              <a:t>    target: EnergyConsumption</a:t>
            </a:r>
          </a:p>
          <a:p>
            <a:r>
              <a:t>    cost: 0.5</a:t>
            </a:r>
          </a:p>
          <a:p>
            <a:r>
              <a:t>    confidence: 0.9</a:t>
            </a:r>
          </a:p>
          <a:p>
            <a:r>
              <a:t>    implementation:</a:t>
            </a:r>
          </a:p>
          <a:p>
            <a:r>
              <a:t>      type: formula</a:t>
            </a:r>
          </a:p>
          <a:p>
            <a:r>
              <a:t>      expr: "x * 0.002"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特徴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人間が読みやすい宣言的記述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型、関数、コスト、信頼度を明示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実装方法（formula/SPARQL/REST）を指定可能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探索アルゴリズム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Dijkstra後方探索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def synthesize_backward(catalog, source_type, goal_type):</a:t>
            </a:r>
          </a:p>
          <a:p>
            <a:r>
              <a:t>    pq = [(0.0, 0.0, counter, goal_type, [])]</a:t>
            </a:r>
          </a:p>
          <a:p>
            <a:r>
              <a:t>    visited = set()</a:t>
            </a:r>
          </a:p>
          <a:p/>
          <a:p>
            <a:r>
              <a:t>    while pq:</a:t>
            </a:r>
          </a:p>
          <a:p>
            <a:r>
              <a:t>        cum_cost, cum_conf, _, current_type, path = heappop(pq)</a:t>
            </a:r>
          </a:p>
          <a:p/>
          <a:p>
            <a:r>
              <a:t>        if current_type == source_type:</a:t>
            </a:r>
          </a:p>
          <a:p>
            <a:r>
              <a:t>            return path  # Solution found</a:t>
            </a:r>
          </a:p>
          <a:p/>
          <a:p>
            <a:r>
              <a:t>        for func in catalog.functions:</a:t>
            </a:r>
          </a:p>
          <a:p>
            <a:r>
              <a:t>            if func.target == current_type:</a:t>
            </a:r>
          </a:p>
          <a:p>
            <a:r>
              <a:t>                next_type = func.source</a:t>
            </a:r>
          </a:p>
          <a:p>
            <a:r>
              <a:t>                new_cost = cum_cost + func.cost</a:t>
            </a:r>
          </a:p>
          <a:p>
            <a:r>
              <a:t>                new_conf = cum_conf + (1.0 - func.confidence)</a:t>
            </a:r>
          </a:p>
          <a:p>
            <a:r>
              <a:t>                heappush(pq, (new_cost, new_conf, counter,</a:t>
            </a:r>
          </a:p>
          <a:p>
            <a:r>
              <a:t>                         next_type, [func] + path))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優先度キュー: (コスト, 信頼度損失, カウンタ, 型, パス)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ゴールから開始、ソースに到達するまで後方探索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検証結果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テストシナリオ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CFP計算：購買金額 → CO2排出量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エネルギー換算：電力消費 → ガス消費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複数中間型を経由するパス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100% のパス発見成功率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平均 2-3ホップ で目標型に到達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コスト最小パスの正確な選択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信頼度を考慮した最適化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限界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集約関数（複数入力）の扱いが単純化されている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単位変換が型システムに統合されていない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4F6F6"/>
                </a:solidFill>
              </a:defRPr>
            </a:pPr>
            <a:r>
              <a:t>第3部：本格的なDSL設計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拡張可能なDSLと実行エンジン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DSL構文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型定義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type EmissionFactor [unit=kg-CO2/kWh] {</a:t>
            </a:r>
          </a:p>
          <a:p>
            <a:r>
              <a:t>  doc: "Emission factor for energy consumption"</a:t>
            </a:r>
          </a:p>
          <a:p>
            <a:r>
              <a:t>  metadata: {</a:t>
            </a:r>
          </a:p>
          <a:p>
            <a:r>
              <a:t>    domain: "GHG Protocol"</a:t>
            </a:r>
          </a:p>
          <a:p>
            <a:r>
              <a:t>    version: "2024"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関数定義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fn energyToEmissions {</a:t>
            </a:r>
          </a:p>
          <a:p>
            <a:r>
              <a:t>  sig: EnergyConsumption -&gt; EmissionFactor -&gt; kg-CO2</a:t>
            </a:r>
          </a:p>
          <a:p>
            <a:r>
              <a:t>  impl: formula("energy * factor")</a:t>
            </a:r>
          </a:p>
          <a:p>
            <a:r>
              <a:t>  cost: 0.1</a:t>
            </a:r>
          </a:p>
          <a:p>
            <a:r>
              <a:t>  confidence: 0.95</a:t>
            </a:r>
          </a:p>
          <a:p>
            <a:r>
              <a:t>  provenance: {</a:t>
            </a:r>
          </a:p>
          <a:p>
            <a:r>
              <a:t>    method: "IPCC Guidelines"</a:t>
            </a:r>
          </a:p>
          <a:p>
            <a:r>
              <a:t>    source: "IEA Database"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実装の種類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1. Formula実装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数式による直接計算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impl: formula("x * 0.5 + 100")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2. SPARQL実装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RDFデータベースへのクエリ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impl: sparql {</a:t>
            </a:r>
          </a:p>
          <a:p>
            <a:r>
              <a:t>  endpoint: "http://example.org/sparql"</a:t>
            </a:r>
          </a:p>
          <a:p>
            <a:r>
              <a:t>  query: "SELECT ?value WHERE { ?s ex:property ?value }"</a:t>
            </a:r>
          </a:p>
          <a:p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3. REST実装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外部APIの呼び出し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impl: rest {</a:t>
            </a:r>
          </a:p>
          <a:p>
            <a:r>
              <a:t>  url: "https://api.example.com/convert"</a:t>
            </a:r>
          </a:p>
          <a:p>
            <a:r>
              <a:t>  method: "POST"</a:t>
            </a:r>
          </a:p>
          <a:p>
            <a:r>
              <a:t>  body_template: '{"value": {{input}}}'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実行エンジン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Executor: 関数パスの実行（formula/SPARQL/REST対応）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UnitConverter: 単位変換の自動実行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ProvenanceGenerator: PROV-O準拠のProvenance生成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実行例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result = executor.execute(path, input_value)</a:t>
            </a:r>
          </a:p>
          <a:p>
            <a:r>
              <a:t># result = {</a:t>
            </a:r>
          </a:p>
          <a:p>
            <a:r>
              <a:t>#   "value": 123.45,</a:t>
            </a:r>
          </a:p>
          <a:p>
            <a:r>
              <a:t>#   "unit": "kg-CO2",</a:t>
            </a:r>
          </a:p>
          <a:p>
            <a:r>
              <a:t>#   "provenance": {</a:t>
            </a:r>
          </a:p>
          <a:p>
            <a:r>
              <a:t>#     "activity": "prov:Activity_001",</a:t>
            </a:r>
          </a:p>
          <a:p>
            <a:r>
              <a:t>#     "wasGeneratedBy": [...],</a:t>
            </a:r>
          </a:p>
          <a:p>
            <a:r>
              <a:t>#     "used": [...]</a:t>
            </a:r>
          </a:p>
          <a:p>
            <a:r>
              <a:t>#   }</a:t>
            </a:r>
          </a:p>
          <a:p>
            <a:r>
              <a:t>#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実行の各ステップでProvenanceを記録し、トレーサビリティを確保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PROV-O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W3C PROV-O準拠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Entity: 入力・出力データ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Activity: 関数の実行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wasGeneratedBy: データ生成の因果関係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used: アクティビティが使用したエンティティ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生成例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{</a:t>
            </a:r>
          </a:p>
          <a:p>
            <a:r>
              <a:t>  "@context": "http://www.w3.org/ns/prov",</a:t>
            </a:r>
          </a:p>
          <a:p>
            <a:r>
              <a:t>  "entity": {</a:t>
            </a:r>
          </a:p>
          <a:p>
            <a:r>
              <a:t>    "id": "entity:output_001",</a:t>
            </a:r>
          </a:p>
          <a:p>
            <a:r>
              <a:t>    "value": 123.45,</a:t>
            </a:r>
          </a:p>
          <a:p>
            <a:r>
              <a:t>    "unit": "kg-CO2"</a:t>
            </a:r>
          </a:p>
          <a:p>
            <a:r>
              <a:t>  },</a:t>
            </a:r>
          </a:p>
          <a:p>
            <a:r>
              <a:t>  "activity": {</a:t>
            </a:r>
          </a:p>
          <a:p>
            <a:r>
              <a:t>    "id": "activity:energyToEmissions",</a:t>
            </a:r>
          </a:p>
          <a:p>
            <a:r>
              <a:t>    "startedAtTime": "2024-01-15T10:30:00Z"</a:t>
            </a:r>
          </a:p>
          <a:p>
            <a:r>
              <a:t>  },</a:t>
            </a:r>
          </a:p>
          <a:p>
            <a:r>
              <a:t>  "wasGeneratedBy": {</a:t>
            </a:r>
          </a:p>
          <a:p>
            <a:r>
              <a:t>    "entity": "entity:output_001",</a:t>
            </a:r>
          </a:p>
          <a:p>
            <a:r>
              <a:t>    "activity": "activity:energyToEmissions"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4F6F6"/>
                </a:solidFill>
              </a:defRPr>
            </a:pPr>
            <a:r>
              <a:t>第4部：CFP計算の実例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Carbon Footprint計算での適用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問題設定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シナリオ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企業の購買データから温室効果ガス排出量を計算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購買金額（JPY）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製品カテゴリ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エネルギー消費量（kWh）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Scope 1, 2, 3 排出量（kg-CO2）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総排出量（kg-CO2）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複数の変換経路が存在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集約関数による統合が必要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信頼度とコストのトレードオフ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探索プロセス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ステップ1：パス発見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Goal: PurchaseAmount -&gt; TotalGHGEmissions</a:t>
            </a:r>
          </a:p>
          <a:p/>
          <a:p>
            <a:r>
              <a:t>Found Path:</a:t>
            </a:r>
          </a:p>
          <a:p>
            <a:r>
              <a:t>  PurchaseAmount -&gt; MonetaryValue</a:t>
            </a:r>
          </a:p>
          <a:p>
            <a:r>
              <a:t>  MonetaryValue -&gt; ProductCategory</a:t>
            </a:r>
          </a:p>
          <a:p>
            <a:r>
              <a:t>  ProductCategory -&gt; EnergyConsumption</a:t>
            </a:r>
          </a:p>
          <a:p>
            <a:r>
              <a:t>  EnergyConsumption -&gt; Scope2Emissions</a:t>
            </a:r>
          </a:p>
          <a:p>
            <a:r>
              <a:t>  Scope2Emissions -&gt; TotalGHGEmissions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ステップ2：最適化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総コスト: 2.1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総信頼度: 0.85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中間型数: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ステップ3：実行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各関数を順次実行し、Provenanceを記録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GHG Scope 1, 2, 3シナリオ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テスト構成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Scope 1: 直接排出（燃料燃焼等）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Scope 2: 間接排出（購入電力等）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Scope 3: その他間接排出（サプライチェーン等）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8つのテストシナリオ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AAB7B8"/>
            </a:solidFill>
          </a:ln>
        </p:spPr>
        <p:txBody>
          <a:bodyPr wrap="none" lIns="127000" tIns="127000" rIns="127000" bIns="127000">
            <a:spAutoFit/>
          </a:bodyPr>
          <a:lstStyle/>
          <a:p>
            <a:pPr>
              <a:defRPr sz="1300">
                <a:solidFill>
                  <a:srgbClr val="1C2833"/>
                </a:solidFill>
                <a:latin typeface="Courier New"/>
              </a:defRPr>
            </a:pPr>
            <a:r>
              <a:t>1. Scope1Emissions → TotalGHGEmissions</a:t>
            </a:r>
          </a:p>
          <a:p>
            <a:r>
              <a:t>2. Scope2Emissions → TotalGHGEmissions</a:t>
            </a:r>
          </a:p>
          <a:p>
            <a:r>
              <a:t>3. Scope3Emissions → TotalGHGEmissions</a:t>
            </a:r>
          </a:p>
          <a:p>
            <a:r>
              <a:t>4. DirectFuelCombustion → Scope1Emissions</a:t>
            </a:r>
          </a:p>
          <a:p>
            <a:r>
              <a:t>5. PurchasedElectricity → Scope2Emissions</a:t>
            </a:r>
          </a:p>
          <a:p>
            <a:r>
              <a:t>6. SupplyChainEmissions → Scope3Emissions</a:t>
            </a:r>
          </a:p>
          <a:p>
            <a:r>
              <a:t>7. DirectFuelCombustion → TotalGHGEmissions (multi-hop)</a:t>
            </a:r>
          </a:p>
          <a:p>
            <a:r>
              <a:t>8. PurchasedElectricity → TotalGHGEmissions (multi-hop)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分析結果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成功率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100% のシナリオでパス発見成功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平均パス長: 1.5 関数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平均コスト: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集約関数の効果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複数のScope排出量を統合可能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型システムにシームレスに統合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Provenance記録により透明性確保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課題と今後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現在の実装: 集約関数を単一入力として扱う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理想: 複数引数を持つ依存型システム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拡張案: Product型、Multi-argument関数サポート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メトリクス分析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パス長の分布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1関数: 6シナリオ (75%)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2関数: 2シナリオ (25%)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最大パス長: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コストと信頼度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最小コスト: 1.0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最大コスト: 2.0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平均信頼度: 1.0 (100%)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発見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集約関数はコスト1.0で効率的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マルチホップパスも自動発見可能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型システムが適切に機能している証左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4F6F6"/>
                </a:solidFill>
              </a:defRPr>
            </a:pPr>
            <a:r>
              <a:t>第5部：まとめと今後の展望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主要な成果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理論的貢献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Span/Cospan理論によるオントロジーアライメントの形式化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型充足問題としての変換経路探索の定式化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中間型の自動発見手法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実装的貢献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YAMLベースのプロトタイプ実装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本格的なDSL設計と実装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実行エンジン（Formula/SPARQL/REST対応）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PROV-O準拠のProvenance生成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実証的貢献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CFP計算での検証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GHG Scope 1,2,3シナリオでの100%成功率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集約関数の統合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今後の展望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型システムの拡張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依存型: 値に依存する型（例：長さnのリスト）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多引数関数: (A, B) → C のような関数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Product型: A × B による直積型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実行エンジンの強化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並列実行による高速化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キャッシュ機構の導入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エラーハンドリングの充実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GraphQL/gRPC対応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EA8A7"/>
                </a:solidFill>
              </a:defRPr>
            </a:pPr>
            <a:r>
              <a:t>応用領域の拡大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サプライチェーン全体のCFP計算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生物多様性データの統合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600">
                <a:solidFill>
                  <a:srgbClr val="1C2833"/>
                </a:solidFill>
              </a:defRPr>
            </a:pPr>
            <a:r>
              <a:t>• ESG指標の自動計算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F4F6F6"/>
                </a:solidFill>
              </a:defRPr>
            </a:pPr>
            <a:r>
              <a:t>• 型理論とカテゴリ理論により、オントロジー変換を自動化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F4F6F6"/>
                </a:solidFill>
              </a:defRPr>
            </a:pPr>
            <a:r>
              <a:t>• DSLによる宣言的で拡張可能な設計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F4F6F6"/>
                </a:solidFill>
              </a:defRPr>
            </a:pPr>
            <a:r>
              <a:t>• 実行エンジンにより実用的なシステムを実現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F4F6F6"/>
                </a:solidFill>
              </a:defRPr>
            </a:pPr>
            <a:r>
              <a:t>• CFP計算での実証により有効性を確認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EA8A7"/>
                </a:solidFill>
              </a:defRPr>
            </a:pPr>
            <a:r>
              <a:t>持続可能性データの統合と分析を</a:t>
            </a:r>
          </a:p>
          <a:p>
            <a:r>
              <a:t>次のレベルへ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